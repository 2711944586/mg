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488db4cc6c46e1" /><Relationship Type="http://schemas.openxmlformats.org/officeDocument/2006/relationships/extended-properties" Target="/docProps/app.xml" Id="R3683bcc20d334c7d" /><Relationship Type="http://schemas.openxmlformats.org/officeDocument/2006/relationships/officeDocument" Target="/ppt/presentation.xml" Id="Re293f059eca24b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7877f176db422d"/>
  </p:sldMasterIdLst>
  <p:notesMasterIdLst>
    <p:notesMasterId xmlns:r="http://schemas.openxmlformats.org/officeDocument/2006/relationships" r:id="R43eee7fb4e394cad"/>
  </p:notesMasterIdLst>
  <p:sldIdLst>
    <p:sldId xmlns:r="http://schemas.openxmlformats.org/officeDocument/2006/relationships" id="256" r:id="R1f89a5a2bc4043f7"/>
    <p:sldId xmlns:r="http://schemas.openxmlformats.org/officeDocument/2006/relationships" id="257" r:id="R5220fdd85ff342f0"/>
    <p:sldId xmlns:r="http://schemas.openxmlformats.org/officeDocument/2006/relationships" id="258" r:id="R8fbb052eec3a4f91"/>
    <p:sldId xmlns:r="http://schemas.openxmlformats.org/officeDocument/2006/relationships" id="259" r:id="R347b8b681cf24838"/>
    <p:sldId xmlns:r="http://schemas.openxmlformats.org/officeDocument/2006/relationships" id="260" r:id="R7ec91a343cca48a2"/>
    <p:sldId xmlns:r="http://schemas.openxmlformats.org/officeDocument/2006/relationships" id="261" r:id="Rf80e4b4ba28b4494"/>
    <p:sldId xmlns:r="http://schemas.openxmlformats.org/officeDocument/2006/relationships" id="262" r:id="R55dafc62a66e4cfd"/>
    <p:sldId xmlns:r="http://schemas.openxmlformats.org/officeDocument/2006/relationships" id="263" r:id="R576544e9b858455e"/>
    <p:sldId xmlns:r="http://schemas.openxmlformats.org/officeDocument/2006/relationships" id="264" r:id="Rc84821ed206943c4"/>
    <p:sldId xmlns:r="http://schemas.openxmlformats.org/officeDocument/2006/relationships" id="265" r:id="Ra43e53dff1c249e4"/>
    <p:sldId xmlns:r="http://schemas.openxmlformats.org/officeDocument/2006/relationships" id="266" r:id="Rf5e060e590954954"/>
    <p:sldId xmlns:r="http://schemas.openxmlformats.org/officeDocument/2006/relationships" id="267" r:id="R5883a22201e947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be95b1beea4423" /><Relationship Type="http://schemas.openxmlformats.org/officeDocument/2006/relationships/slideMaster" Target="/ppt/slideMasters/slideMaster1.xml" Id="R767877f176db422d" /><Relationship Type="http://schemas.openxmlformats.org/officeDocument/2006/relationships/notesMaster" Target="/ppt/notesMasters/notesMaster1.xml" Id="R43eee7fb4e394cad" /><Relationship Type="http://schemas.openxmlformats.org/officeDocument/2006/relationships/presProps" Target="/ppt/presProps.xml" Id="R134b11205e6b476f" /><Relationship Type="http://schemas.openxmlformats.org/officeDocument/2006/relationships/viewProps" Target="/ppt/viewProps.xml" Id="R90b97cb89c08447f" /><Relationship Type="http://schemas.openxmlformats.org/officeDocument/2006/relationships/tableStyles" Target="/ppt/tableStyles.xml" Id="R60eb4f46724748ec" /><Relationship Type="http://schemas.openxmlformats.org/officeDocument/2006/relationships/slide" Target="/ppt/slides/slide1.xml" Id="R1f89a5a2bc4043f7" /><Relationship Type="http://schemas.openxmlformats.org/officeDocument/2006/relationships/slide" Target="/ppt/slides/slide2.xml" Id="R5220fdd85ff342f0" /><Relationship Type="http://schemas.openxmlformats.org/officeDocument/2006/relationships/slide" Target="/ppt/slides/slide3.xml" Id="R8fbb052eec3a4f91" /><Relationship Type="http://schemas.openxmlformats.org/officeDocument/2006/relationships/slide" Target="/ppt/slides/slide4.xml" Id="R347b8b681cf24838" /><Relationship Type="http://schemas.openxmlformats.org/officeDocument/2006/relationships/slide" Target="/ppt/slides/slide5.xml" Id="R7ec91a343cca48a2" /><Relationship Type="http://schemas.openxmlformats.org/officeDocument/2006/relationships/slide" Target="/ppt/slides/slide6.xml" Id="Rf80e4b4ba28b4494" /><Relationship Type="http://schemas.openxmlformats.org/officeDocument/2006/relationships/slide" Target="/ppt/slides/slide7.xml" Id="R55dafc62a66e4cfd" /><Relationship Type="http://schemas.openxmlformats.org/officeDocument/2006/relationships/slide" Target="/ppt/slides/slide8.xml" Id="R576544e9b858455e" /><Relationship Type="http://schemas.openxmlformats.org/officeDocument/2006/relationships/slide" Target="/ppt/slides/slide9.xml" Id="Rc84821ed206943c4" /><Relationship Type="http://schemas.openxmlformats.org/officeDocument/2006/relationships/slide" Target="/ppt/slides/slide10.xml" Id="Ra43e53dff1c249e4" /><Relationship Type="http://schemas.openxmlformats.org/officeDocument/2006/relationships/slide" Target="/ppt/slides/slide11.xml" Id="Rf5e060e590954954" /><Relationship Type="http://schemas.openxmlformats.org/officeDocument/2006/relationships/slide" Target="/ppt/slides/slide12.xml" Id="R5883a22201e947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df630f65ca45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56acb593664333" /><Relationship Type="http://schemas.openxmlformats.org/officeDocument/2006/relationships/notesMaster" Target="/ppt/notesMasters/notesMaster1.xml" Id="R5807025861ec45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f1b43aefcc43d9" /><Relationship Type="http://schemas.openxmlformats.org/officeDocument/2006/relationships/notesMaster" Target="/ppt/notesMasters/notesMaster1.xml" Id="R3b9d9c19d57a4d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fb5272178c4864" /><Relationship Type="http://schemas.openxmlformats.org/officeDocument/2006/relationships/notesMaster" Target="/ppt/notesMasters/notesMaster1.xml" Id="Raac4b2ff72c4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5147ff803f44f5" /><Relationship Type="http://schemas.openxmlformats.org/officeDocument/2006/relationships/notesMaster" Target="/ppt/notesMasters/notesMaster1.xml" Id="Rbb17489878eb42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34d0ea4e134c73" /><Relationship Type="http://schemas.openxmlformats.org/officeDocument/2006/relationships/notesMaster" Target="/ppt/notesMasters/notesMaster1.xml" Id="R594eaea6932b44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8f10499e3a4298" /><Relationship Type="http://schemas.openxmlformats.org/officeDocument/2006/relationships/notesMaster" Target="/ppt/notesMasters/notesMaster1.xml" Id="Rd80c1db984a243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235b43af574aeb" /><Relationship Type="http://schemas.openxmlformats.org/officeDocument/2006/relationships/notesMaster" Target="/ppt/notesMasters/notesMaster1.xml" Id="Rebd761ec9e5741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634c82df504e09" /><Relationship Type="http://schemas.openxmlformats.org/officeDocument/2006/relationships/notesMaster" Target="/ppt/notesMasters/notesMaster1.xml" Id="Ra6ff7cd6314e41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e602f531c642d6" /><Relationship Type="http://schemas.openxmlformats.org/officeDocument/2006/relationships/notesMaster" Target="/ppt/notesMasters/notesMaster1.xml" Id="R2da13b4863064d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d996bfab294e68" /><Relationship Type="http://schemas.openxmlformats.org/officeDocument/2006/relationships/notesMaster" Target="/ppt/notesMasters/notesMaster1.xml" Id="Rb983fc751e204d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88a919aab248a9" /><Relationship Type="http://schemas.openxmlformats.org/officeDocument/2006/relationships/notesMaster" Target="/ppt/notesMasters/notesMaster1.xml" Id="R6fa7be6f3b144d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78ac0e53e84c75" /><Relationship Type="http://schemas.openxmlformats.org/officeDocument/2006/relationships/notesMaster" Target="/ppt/notesMasters/notesMaster1.xml" Id="R32083b847ce04c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0197f26db4a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d13fc7b1ef4f9d" /><Relationship Type="http://schemas.openxmlformats.org/officeDocument/2006/relationships/slideLayout" Target="/ppt/slideLayouts/slideLayout1.xml" Id="R1f4d501b7aaa4d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4d501b7aaa4d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c2f1c443142df" /><Relationship Type="http://schemas.openxmlformats.org/officeDocument/2006/relationships/image" Target="/ppt/media/image.png" Id="Red89d99989144836" /><Relationship Type="http://schemas.openxmlformats.org/officeDocument/2006/relationships/notesSlide" Target="/ppt/notesSlides/notesSlide1.xml" Id="Rbba431f62bd841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c641466744bf5" /><Relationship Type="http://schemas.openxmlformats.org/officeDocument/2006/relationships/notesSlide" Target="/ppt/notesSlides/notesSlide2.xml" Id="Rb31291abff014e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a0ab86eef45e4" /><Relationship Type="http://schemas.openxmlformats.org/officeDocument/2006/relationships/notesSlide" Target="/ppt/notesSlides/notesSlide3.xml" Id="R074e310b375d4f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393a619544024" /><Relationship Type="http://schemas.openxmlformats.org/officeDocument/2006/relationships/notesSlide" Target="/ppt/notesSlides/notesSlide4.xml" Id="R66fd4158a55246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bd99d27a64e1f" /><Relationship Type="http://schemas.openxmlformats.org/officeDocument/2006/relationships/notesSlide" Target="/ppt/notesSlides/notesSlide5.xml" Id="R83e533593b334b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3fa40f9024948" /><Relationship Type="http://schemas.openxmlformats.org/officeDocument/2006/relationships/notesSlide" Target="/ppt/notesSlides/notesSlide6.xml" Id="R52b5aa011d8c48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ec461ef914e38" /><Relationship Type="http://schemas.openxmlformats.org/officeDocument/2006/relationships/notesSlide" Target="/ppt/notesSlides/notesSlide7.xml" Id="R382efdae9e444c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fc062b82542cc" /><Relationship Type="http://schemas.openxmlformats.org/officeDocument/2006/relationships/notesSlide" Target="/ppt/notesSlides/notesSlide8.xml" Id="R358ce9d417794a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05b37370a4622" /><Relationship Type="http://schemas.openxmlformats.org/officeDocument/2006/relationships/image" Target="/ppt/media/image2.png" Id="R93d4538b92f0410c" /><Relationship Type="http://schemas.openxmlformats.org/officeDocument/2006/relationships/notesSlide" Target="/ppt/notesSlides/notesSlide9.xml" Id="R62a2fe8fef6442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697a824a643dc" /><Relationship Type="http://schemas.openxmlformats.org/officeDocument/2006/relationships/notesSlide" Target="/ppt/notesSlides/notesSlide10.xml" Id="R9991f31fc64c45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3b7ec979e437a" /><Relationship Type="http://schemas.openxmlformats.org/officeDocument/2006/relationships/notesSlide" Target="/ppt/notesSlides/notesSlide11.xml" Id="Ra328cf5c049041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b5ac9619744ba" /><Relationship Type="http://schemas.openxmlformats.org/officeDocument/2006/relationships/notesSlide" Target="/ppt/notesSlides/notesSlide12.xml" Id="R41fdfccd1cea41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9d9998914483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4FE01-64C1-444B-BA71-28F316D1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0E10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C4ED06B-AA72-4214-A93A-AF0BB068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DE9FA9-8556-4453-BD5B-386073DB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D9B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D9BB"/>
                </a:solidFill>
                <a:latin typeface="Aptos"/>
                <a:ea typeface="Aptos"/>
                <a:cs typeface="Aptos"/>
              </a:rPr>
              <a:t>经典品读汇报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7B194-B216-4525-91BE-514DE8D5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rPr>
              <a:t>守正创新何以开辟新境界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BAED1-2602-425A-8779-C6435125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2D5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2D5A5"/>
                </a:solidFill>
                <a:latin typeface="Microsoft YaHei"/>
                <a:ea typeface="Microsoft YaHei"/>
                <a:cs typeface="Microsoft YaHei"/>
              </a:rPr>
              <a:t>从“两个结合”到新时代青年的理论自觉与实践担当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C1B3E-AE8F-4154-AF65-001D7C3E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209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F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2546B-F75D-450D-93AC-87B7AB7F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10分30秒课堂展示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C35E0-B2EB-4E28-9275-F221908F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D9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AD9BB"/>
                </a:solidFill>
                <a:latin typeface="Microsoft YaHei"/>
                <a:ea typeface="Microsoft YaHei"/>
                <a:cs typeface="Microsoft YaHei"/>
              </a:rPr>
              <a:t>《开辟马克思主义中国化时代化新境界》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53C50-A4B8-40BC-8DB9-624A14AE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C92D6-63B3-42AC-A229-09E7FF4F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F5DA9-0B79-4774-926E-903A3590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20秒</a:t>
            </a:r>
          </a:p>
        </p:txBody>
      </p:sp>
    </p:spTree>
    <p:extLst>
      <p:ext uri="{BB962C8B-B14F-4D97-AF65-F5344CB8AC3E}">
        <p14:creationId xmlns:p14="http://schemas.microsoft.com/office/powerpoint/2010/main" val="15921386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D65BF9-7CF4-42CA-8F9B-95D23831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050F54B-8E02-4E07-A6EA-D489CCE2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78FD7EC-F05D-4DF0-BC5C-9002E03A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选题价值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DC817-C503-4B2C-8DA1-770CC0B0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为什么选择这篇经典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27AAB-016C-4408-937F-975DBE63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3143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FCFF4-2C3A-4105-AEB4-A8A5B6E3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时代之问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7640E-FE88-4CFB-88A5-1DDD3DBB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回答马克思主义为什么必须中国化时代化。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C92BE-B70D-4B72-91E5-FEF46B15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3143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2ACA8-76C5-4493-B066-C1AF604C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理论之答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CD788-254F-4BD4-A60F-8E6B5436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147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把理论创新、中国实践、中华文化连接起来。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72ECD-3B43-4FE0-883C-FBC51187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00300"/>
            <a:ext cx="3143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CCC65-54DA-4A77-8078-23F1DBBE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青年之责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09309-2EBC-4841-BBEF-9D7E667A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帮助大学生理解理论学习为什么有用。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7DA86-E1FB-41CC-8676-69F8FCCE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E5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E5B4E"/>
                </a:solidFill>
                <a:latin typeface="Microsoft YaHei"/>
                <a:ea typeface="Microsoft YaHei"/>
                <a:cs typeface="Microsoft YaHei"/>
              </a:rPr>
              <a:t>核心问题：经典阅读怎样帮助我们理解中国、观察时代、规划人生？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9CAB1-D5F7-4374-93FE-30CFCA58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33218-CF0A-4999-84A0-59C55C31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131BD-08CD-48AE-BC39-B2815BF7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45秒</a:t>
            </a:r>
          </a:p>
        </p:txBody>
      </p:sp>
    </p:spTree>
    <p:extLst>
      <p:ext uri="{BB962C8B-B14F-4D97-AF65-F5344CB8AC3E}">
        <p14:creationId xmlns:p14="http://schemas.microsoft.com/office/powerpoint/2010/main" val="195924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A72BE8-1D24-4D1A-8415-E291FEC7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D592728-39CF-4E04-B166-30176B0E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A31444-C63E-4BDD-B22C-3F527AD3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毛概主线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99616-BE7F-4B2D-AB7A-4D7A6494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理论在回答时代问题中发展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74215-3DDA-4C69-B18D-7DA3F33F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988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456A9-5A6B-449A-9776-BE61CDD7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19050">
            <a:solidFill>
              <a:srgbClr val="C7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B6B7E-7C24-4598-8CEC-D071678D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9F81A-2ABC-47FB-8B91-F4E341D1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228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马克思主义</a:t>
            </a:r>
          </a:p>
          <a:p xmlns:a="http://schemas.openxmlformats.org/drawingml/2006/main">
            <a:pPr algn="l">
              <a:def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基本原理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8865B-57DC-470F-8E69-8FC8ACCE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432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19050">
            <a:solidFill>
              <a:srgbClr val="C79B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9969E-21AE-4756-8EA4-C3C2F985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05125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3014D-323C-4341-9241-99F898C0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62400"/>
            <a:ext cx="228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毛泽东</a:t>
            </a:r>
          </a:p>
          <a:p xmlns:a="http://schemas.openxmlformats.org/drawingml/2006/main">
            <a:pPr algn="l">
              <a:def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思想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D1334-DB9C-45BD-9CC0-8D34F939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19050">
            <a:solidFill>
              <a:srgbClr val="C79B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1B269-EC23-4B37-9408-2A7FBE04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5125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CC17A-D694-46F0-827E-B913C3BD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62400"/>
            <a:ext cx="228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中国特色社会主义</a:t>
            </a:r>
          </a:p>
          <a:p xmlns:a="http://schemas.openxmlformats.org/drawingml/2006/main">
            <a:pPr algn="l">
              <a:def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理论体系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A3DE8-6E1C-4EB4-B617-8FC5C72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19050">
            <a:solidFill>
              <a:srgbClr val="C79B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2FB13-06E2-424F-9907-BE0B5995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05125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31D6A-4DE3-4DDF-80B4-FC9EA616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28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习近平新时代</a:t>
            </a:r>
          </a:p>
          <a:p xmlns:a="http://schemas.openxmlformats.org/drawingml/2006/main">
            <a:pPr algn="l">
              <a:def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中国特色社会主义思想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CFCA7-4CE3-4B41-B0F2-76B1C955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432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171A"/>
          </a:solidFill>
          <a:ln xmlns:a="http://schemas.openxmlformats.org/drawingml/2006/main" w="19050">
            <a:solidFill>
              <a:srgbClr val="C79B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0A2AB-C92C-4A84-B20E-E83A3F6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905125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416F5-2328-4F96-97AC-DF0D1037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962400"/>
            <a:ext cx="228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继续推进</a:t>
            </a:r>
          </a:p>
          <a:p xmlns:a="http://schemas.openxmlformats.org/drawingml/2006/main">
            <a:pPr algn="l">
              <a:def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中国化时代化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7CA89-3A37-4B5A-8B1D-417A1927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81600"/>
            <a:ext cx="906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rPr>
              <a:t>理论不是停在书本里的结论，而是在回答中国问题、时代问题、人民问题中不断发展的思想成果。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62CFC-AAD2-4278-A256-E687D296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36F8A-395D-48EB-8655-0F9AAEE4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F6ACE8-8A0D-49A3-87BD-C59292C2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60秒</a:t>
            </a:r>
          </a:p>
        </p:txBody>
      </p:sp>
    </p:spTree>
    <p:extLst>
      <p:ext uri="{BB962C8B-B14F-4D97-AF65-F5344CB8AC3E}">
        <p14:creationId xmlns:p14="http://schemas.microsoft.com/office/powerpoint/2010/main" val="10406931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C04A78-50B1-4A7B-AA1A-5B5D1E54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D198716-5467-43DD-AD3F-23CB678B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F089133-62B1-4BDC-93D9-132F5CF4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核心逻辑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A526D-9D97-4C70-B725-B9AA38D7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守正创新：方向与问题意识的统一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7F624-A221-45FF-A8F8-57CC6CFA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191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04390-FCD0-4ADE-BAEE-E53950A6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4191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FCA5B-B135-44B4-8CA2-1B373822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908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守正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D7893-50F7-4D12-8DFC-8E55DC37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坚持马克思主义基本立场、观点、方法；坚持人民立场，坚持实事求是。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FCCFB-4686-41A3-91D8-41F6CEE5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创新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96613-62D1-4C19-A69A-E8B07EDE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956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回应中国之问、世界之问、人民之问、时代之问，提出新的认识和办法。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8774B-09F2-4E69-A7C9-15D8C735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86100"/>
            <a:ext cx="1333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F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C8692-54CE-4103-A015-4CBECB1D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统一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3DBEF-A035-4D3C-B339-80F91461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95875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rPr>
              <a:t>守正不是守旧，创新不是离根。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F45AD-D9AB-40ED-A642-A2E6E609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D12FB-6A1E-4ED5-9D03-0D833307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D92D-E294-4A26-9B28-7F2384ED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60秒</a:t>
            </a:r>
          </a:p>
        </p:txBody>
      </p:sp>
    </p:spTree>
    <p:extLst>
      <p:ext uri="{BB962C8B-B14F-4D97-AF65-F5344CB8AC3E}">
        <p14:creationId xmlns:p14="http://schemas.microsoft.com/office/powerpoint/2010/main" val="9241927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09329-58C6-41DB-A386-69A08CDF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8B8304C-669B-42A1-8136-F74871EC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FAC85B-84FF-47D1-A56F-1967EB40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第一个结合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48BD9-D1D2-4B4C-A977-41303DDC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同中国具体实际相结合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D461A-2D11-4AFF-8E6D-87F692C2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811E4-2614-4B3C-82E4-CB2DFB9E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512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从中国国情出发，回答中国自己的问题。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CCE0D-D50C-4E31-97A2-327632EF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2BB81-D88D-4B9A-96DB-7E9AE8D1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74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不能照搬照抄外来模式。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7CBBA-EBA0-4A04-8CB9-0D37CAD4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C9A08-BCF6-4AB2-9D32-21498014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512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对应方法论：实事求是、独立自主。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FFDD6-F2C1-43BA-A0B6-C4FC9317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7D1A8"/>
          </a:solidFill>
          <a:ln xmlns:a="http://schemas.openxmlformats.org/drawingml/2006/main" w="19050">
            <a:solidFill>
              <a:srgbClr val="C79B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8E5EC-8901-40A2-8FC1-8F940D8A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1962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9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0DF97-4D56-433B-96A5-7BC670B4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中国式现代化\n乡村振兴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F5FC7-A37B-4E93-90FA-5A1825F4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953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E2C5"/>
          </a:solidFill>
          <a:ln xmlns:a="http://schemas.openxmlformats.org/drawingml/2006/main" w="9525">
            <a:solidFill>
              <a:srgbClr val="CAA6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84F2D-10B4-4ED7-B461-38FA3F3F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B0255-C8B1-4C4E-BDB2-39AC0002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849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第一个结合解决“理论如何不悬空”的问题。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9C58D-DA43-4325-A27A-FCD4ECA2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4DA26-9BA9-47FB-9F07-C3CF430D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FB381-77BF-4AA8-B730-5D726D40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65秒</a:t>
            </a:r>
          </a:p>
        </p:txBody>
      </p:sp>
    </p:spTree>
    <p:extLst>
      <p:ext uri="{BB962C8B-B14F-4D97-AF65-F5344CB8AC3E}">
        <p14:creationId xmlns:p14="http://schemas.microsoft.com/office/powerpoint/2010/main" val="19616849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550972-119E-44FF-BC78-E57ED780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E637CD6-2E05-4A0D-B8CC-F0D81979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1A5A51-30A5-4EC1-8713-64B9280F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第二个结合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4104C-6141-4F22-8C43-0304EB93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同中华优秀传统文化相结合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AAF68-71F1-42DC-8FB2-34A94E3D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马克思主义要在中华文明土壤中扎根，中华优秀传统文化为理论创新提供文化滋养。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28AB3-DE3A-495E-9193-9ED19EA7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700BD-5BB6-4834-AE80-17C78E02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民为邦本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BE47-2686-48B0-89CB-B4C9AEBC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DDBA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78596-502F-453E-A9F3-97200ACF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242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天下为公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1553B-0806-4ACC-8FB9-3E9AC6A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36FD2-DED9-4C9D-9A23-586C57E3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和而不同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86C35-9867-4D4C-9463-BA8B20F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DDBA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F26F8-895B-4B0C-87E5-8C583B20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242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自强不息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899A8-619D-4D3D-A93F-2EEFB524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95875"/>
            <a:ext cx="847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rPr>
              <a:t>第二个结合不是简单引用古语，而是推动创造性转化、创新性发展。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E320C-9361-4672-9AA7-19808538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670E3-F25A-43D7-AD57-3CE5A1E2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EE93E-0D74-4F9A-9FE6-57B8D645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65秒</a:t>
            </a:r>
          </a:p>
        </p:txBody>
      </p:sp>
    </p:spTree>
    <p:extLst>
      <p:ext uri="{BB962C8B-B14F-4D97-AF65-F5344CB8AC3E}">
        <p14:creationId xmlns:p14="http://schemas.microsoft.com/office/powerpoint/2010/main" val="11237706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88146-C4BE-4FB7-932F-7AA55E93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15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B14108-9D9E-49DA-A49B-FC525F1E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43F560E-AA08-4B65-A845-8FA6E2EF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D9B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D9BB"/>
                </a:solidFill>
                <a:latin typeface="Aptos"/>
                <a:ea typeface="Aptos"/>
                <a:cs typeface="Aptos"/>
              </a:rPr>
              <a:t>问题导向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99C5B-42DC-40A4-8B88-54F75E19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rPr>
              <a:t>理论为什么要回答现实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40581-DEB2-42F3-95EE-C607480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EC">
              <a:alpha val="7843"/>
            </a:srgbClr>
          </a:solidFill>
          <a:ln xmlns:a="http://schemas.openxmlformats.org/drawingml/2006/main" w="9525">
            <a:solidFill>
              <a:srgbClr val="D7BC84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F4941-C4D1-4A20-AD06-8E87DB0B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A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CA74"/>
                </a:solidFill>
                <a:latin typeface="Aptos"/>
                <a:ea typeface="Aptos"/>
                <a:cs typeface="Aptos"/>
              </a:rPr>
              <a:t>科技竞争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4B9AF-8869-43C2-9ACA-3F79D4AF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rPr>
              <a:t>如何实现高水平科技自立自强？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D422F-3452-4BFB-BDBE-761EB641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EC">
              <a:alpha val="7843"/>
            </a:srgbClr>
          </a:solidFill>
          <a:ln xmlns:a="http://schemas.openxmlformats.org/drawingml/2006/main" w="9525">
            <a:solidFill>
              <a:srgbClr val="D7BC84">
                <a:alpha val="4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DB20C-E643-4B2D-8071-2F0C9213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A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CA74"/>
                </a:solidFill>
                <a:latin typeface="Aptos"/>
                <a:ea typeface="Aptos"/>
                <a:cs typeface="Aptos"/>
              </a:rPr>
              <a:t>发展不平衡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F94D3-D2DC-44B6-BF02-0196A02D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290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rPr>
              <a:t>如何推进共同富裕和乡村振兴？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021AB-A817-4B5F-AC18-40B5D98C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EC">
              <a:alpha val="7843"/>
            </a:srgbClr>
          </a:solidFill>
          <a:ln xmlns:a="http://schemas.openxmlformats.org/drawingml/2006/main" w="9525">
            <a:solidFill>
              <a:srgbClr val="D7BC84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E56C4-BB46-44A2-BBAE-BB61913D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A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CA74"/>
                </a:solidFill>
                <a:latin typeface="Aptos"/>
                <a:ea typeface="Aptos"/>
                <a:cs typeface="Aptos"/>
              </a:rPr>
              <a:t>生态压力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CCDF6-0071-4850-91B4-D48CB51E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rPr>
              <a:t>如何建设人与自然和谐共生的现代化？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87C38-6B07-4C42-BAAA-5E1E2EC3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5780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4CA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4CA74"/>
                </a:solidFill>
                <a:latin typeface="Microsoft YaHei"/>
                <a:ea typeface="Microsoft YaHei"/>
                <a:cs typeface="Microsoft YaHei"/>
              </a:rPr>
              <a:t>理论的生命力，在于它能够解释现实、回应现实、指导现实。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74DBE-180A-444D-9706-62195308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13F2F-F6CC-4685-8926-7AD41142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6617D-458F-4757-8BEB-37138D49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70秒</a:t>
            </a:r>
          </a:p>
        </p:txBody>
      </p:sp>
    </p:spTree>
    <p:extLst>
      <p:ext uri="{BB962C8B-B14F-4D97-AF65-F5344CB8AC3E}">
        <p14:creationId xmlns:p14="http://schemas.microsoft.com/office/powerpoint/2010/main" val="14199241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88589D-52ED-4440-9BDA-30E81122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1C2DA05-E93E-4A7C-8CAC-9D01D36C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E35392-1833-4424-B4AB-A141C9B4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小组过程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1645E-1C6A-42F7-8952-25301922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经典阅读不是背概念：我们如何读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7AC26-BE62-4517-8260-819C1521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6F171A"/>
          </a:solidFill>
          <a:ln xmlns:a="http://schemas.openxmlformats.org/drawingml/2006/main" w="14288">
            <a:solidFill>
              <a:srgbClr val="C79B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708F0-CF6A-4FD3-84C3-63F4AE41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6BFBF-1010-4005-862B-C6183C78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精读文本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B4B88-834E-4991-8F8E-410B7AFA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D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DFD8"/>
                </a:solidFill>
                <a:latin typeface="Microsoft YaHei"/>
                <a:ea typeface="Microsoft YaHei"/>
                <a:cs typeface="Microsoft YaHei"/>
              </a:rPr>
              <a:t>圈画关键词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4C445-0875-47CB-8FDD-F977D903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4288">
            <a:solidFill>
              <a:srgbClr val="C79B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16145-D714-482D-A102-AFB986D7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9560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028BB-EAFF-4CE2-8E4A-2AE145B4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909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关联毛概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738A4-0B89-46E6-B7F7-E9E84467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24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5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5B4E"/>
                </a:solidFill>
                <a:latin typeface="Microsoft YaHei"/>
                <a:ea typeface="Microsoft YaHei"/>
                <a:cs typeface="Microsoft YaHei"/>
              </a:rPr>
              <a:t>寻找课程知识对应点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8DDDB-F54E-45FD-A8D0-06E3DE57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4288">
            <a:solidFill>
              <a:srgbClr val="C79B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01D4E-17E6-41E8-A955-A49DEE4F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34770-6CFD-40FB-80B5-BA9109C8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联系现实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DD1EE-D91C-4247-A94D-460E041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24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5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5B4E"/>
                </a:solidFill>
                <a:latin typeface="Microsoft YaHei"/>
                <a:ea typeface="Microsoft YaHei"/>
                <a:cs typeface="Microsoft YaHei"/>
              </a:rPr>
              <a:t>放进案例中理解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82BCC-1CE3-40B8-BA4E-2F0644ED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0510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4288">
            <a:solidFill>
              <a:srgbClr val="C79B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E4E72-0EC7-442B-8EA6-C4968245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9560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54525-0249-40AA-BC3E-17B7D2E3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909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转化表达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08E25-5FAD-466C-9065-1EC42CDF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24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5B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5B4E"/>
                </a:solidFill>
                <a:latin typeface="Microsoft YaHei"/>
                <a:ea typeface="Microsoft YaHei"/>
                <a:cs typeface="Microsoft YaHei"/>
              </a:rPr>
              <a:t>形成PPT、WebDemo、AI视频和报告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333C0-F249-48EB-A3C8-BF1E12D6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578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rPr>
              <a:t>从文本中提炼关键词，再回到现实问题和青年成长。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06D9A-9E61-4F1E-B1C1-D1741188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36798-B6EC-4A85-BEAD-90992F23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03EE8E-B36D-415B-9FCA-B2A42B9C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50秒</a:t>
            </a:r>
          </a:p>
        </p:txBody>
      </p:sp>
    </p:spTree>
    <p:extLst>
      <p:ext uri="{BB962C8B-B14F-4D97-AF65-F5344CB8AC3E}">
        <p14:creationId xmlns:p14="http://schemas.microsoft.com/office/powerpoint/2010/main" val="1675400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A694F-5E1E-41B4-B1AD-21927A2D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CC1D63-6736-4C34-B2EF-16B1B2E1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4E1B23-1B6B-48FC-AC66-5DAE1873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WebDemo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D8D23-4892-4711-928E-833CAD0C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把经典品读做成数字展厅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15DE1-681A-4C95-8C8D-36CF7395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53340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2E1512"/>
          </a:solidFill>
          <a:ln xmlns:a="http://schemas.openxmlformats.org/drawingml/2006/main" w="9525">
            <a:solidFill>
              <a:srgbClr val="C79B3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4538b92f0410c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" y="2190750"/>
            <a:ext cx="4953000" cy="278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12B26-D5C8-4085-9DD3-4F4AAD8A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2989A-628A-4BB2-86F8-2FE29C12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240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A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A17"/>
                </a:solidFill>
                <a:latin typeface="Aptos"/>
                <a:ea typeface="Aptos"/>
                <a:cs typeface="Aptos"/>
              </a:rPr>
              <a:t>经典导读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1B9A4-5A50-4B69-807D-BDB24406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7B52A-0250-42AD-B117-7E703976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240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A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A17"/>
                </a:solidFill>
                <a:latin typeface="Aptos"/>
                <a:ea typeface="Aptos"/>
                <a:cs typeface="Aptos"/>
              </a:rPr>
              <a:t>理论时间轴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02FEE-ECB4-427C-BE10-6CC9E35D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723A8-075F-44B8-9FB8-9E8F47A9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098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A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A17"/>
                </a:solidFill>
                <a:latin typeface="Aptos"/>
                <a:ea typeface="Aptos"/>
                <a:cs typeface="Aptos"/>
              </a:rPr>
              <a:t>关键词云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2C848-F68E-4138-8959-829574BB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73B7A-435C-44E2-B27C-8786DE55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98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A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A17"/>
                </a:solidFill>
                <a:latin typeface="Aptos"/>
                <a:ea typeface="Aptos"/>
                <a:cs typeface="Aptos"/>
              </a:rPr>
              <a:t>现实案例卡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0EC69-00B2-4CA9-9832-DB441093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F171A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65336-BD5E-45D4-B7B7-23D1C66E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956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互动问答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9677C-D0EA-46A3-87EC-06115AA5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0A070-BCAE-4D57-BD66-193C9BAD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956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A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A17"/>
                </a:solidFill>
                <a:latin typeface="Aptos"/>
                <a:ea typeface="Aptos"/>
                <a:cs typeface="Aptos"/>
              </a:rPr>
              <a:t>AI视频区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CD5CE-B3FC-498C-A74B-866A8018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9595A-C5A1-433C-B2AD-5B305128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814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A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A17"/>
                </a:solidFill>
                <a:latin typeface="Aptos"/>
                <a:ea typeface="Aptos"/>
                <a:cs typeface="Aptos"/>
              </a:rPr>
              <a:t>小组心得墙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25400-7927-4B0D-8CA9-5A86015A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577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rPr>
              <a:t>不是炫技，而是把抽象理论转化成可看、可点、可互动的学习空间。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A5D5F-81E6-4C55-A21B-26B79CAA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017A0-6B0B-446A-B0EE-B5719C07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BEEB17-7012-4F74-919D-8D5201E0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60秒</a:t>
            </a:r>
          </a:p>
        </p:txBody>
      </p:sp>
    </p:spTree>
    <p:extLst>
      <p:ext uri="{BB962C8B-B14F-4D97-AF65-F5344CB8AC3E}">
        <p14:creationId xmlns:p14="http://schemas.microsoft.com/office/powerpoint/2010/main" val="10304862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4F9F70-62FE-481D-B8B6-1696513B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B6A6F77-B348-4CB6-BF69-5BB8C1BE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6C3599-33E2-4EAD-A8F4-A561FBEF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AI视频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7C271-DE5D-4C7F-804C-7893AA39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让理论之光照亮青春之路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595A2-E086-4429-99D7-C977B442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6F171A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60891-E9BF-41A7-ABD6-F5072AC4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23A99-46C1-4AE6-9D66-0CFAD89C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1813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9BD50-4B6D-4581-9E41-DB5C0016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书页翻开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B3648-9DA2-4ED0-BFAC-53C3C9A4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051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DD298-6E3A-429F-ABBF-5421AC6A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28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0262C-99BF-4909-83C6-0C261A7C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813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C0D68-B365-4483-8C55-12C3AAEF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100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1A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A17"/>
                </a:solidFill>
                <a:latin typeface="Aptos"/>
                <a:ea typeface="Aptos"/>
                <a:cs typeface="Aptos"/>
              </a:rPr>
              <a:t>关键词浮现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CA528-C8D0-4E78-A0BE-60FCBDD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E13DB-EFE7-4866-ADCC-72C33FAE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720CE-55CE-4197-9062-025220AB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1813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3877A-13A4-4485-B6FC-669AB3E1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1A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A17"/>
                </a:solidFill>
                <a:latin typeface="Aptos"/>
                <a:ea typeface="Aptos"/>
                <a:cs typeface="Aptos"/>
              </a:rPr>
              <a:t>时代场景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E4227-8298-4C33-B6C1-EDE53E18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051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DCD3F-CE19-4A14-B435-1DDCB4AE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28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B13AD-BA73-4C56-8C01-5FD60A7F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813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A2ABB-B365-4B13-97B5-1AAA6BBD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100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1A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A17"/>
                </a:solidFill>
                <a:latin typeface="Aptos"/>
                <a:ea typeface="Aptos"/>
                <a:cs typeface="Aptos"/>
              </a:rPr>
              <a:t>青年讨论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8455C-3D83-463C-B3C9-30C57440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051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DE344-D4F0-4684-A2E1-1F5E8721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28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DDE38-0122-4772-AD35-B4A03405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813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6F7D4-EDDD-4841-BD0D-7F152887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00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1A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1A17"/>
                </a:solidFill>
                <a:latin typeface="Aptos"/>
                <a:ea typeface="Aptos"/>
                <a:cs typeface="Aptos"/>
              </a:rPr>
              <a:t>结尾字幕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443AF-E064-4529-A16A-3EC550BF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76800"/>
            <a:ext cx="826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F171A"/>
                </a:solidFill>
                <a:latin typeface="Microsoft YaHei"/>
                <a:ea typeface="Microsoft YaHei"/>
                <a:cs typeface="Microsoft YaHei"/>
              </a:rPr>
              <a:t>从书页到时代场景，从关键词到现实案例，从经典阅读到青年担当。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52BD5-C153-40D0-A26A-F0B6B47A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94F81-392D-4FEE-A002-06782F3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8983CF-99C3-471E-997F-C4E5A991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40秒</a:t>
            </a:r>
          </a:p>
        </p:txBody>
      </p:sp>
    </p:spTree>
    <p:extLst>
      <p:ext uri="{BB962C8B-B14F-4D97-AF65-F5344CB8AC3E}">
        <p14:creationId xmlns:p14="http://schemas.microsoft.com/office/powerpoint/2010/main" val="9406776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B27C82-FACF-441A-AB39-9921B4DC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C4293A8-7032-404E-80A3-1E5604D6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F8BDA6-2062-4F85-B7DF-60F7B1D2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青年落脚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776D9-5004-4EA6-B32A-53AA2701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从理论自觉到实践担当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23072-CA98-42ED-906F-6CEEE96C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998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44FA3-10A1-4ACA-BD69-868FB4F9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336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学理论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3279F-E9BD-4788-9E2C-49D5727D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336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不是停留在背诵，而是掌握方法。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0D2BD-4594-415B-BD15-ED59BD61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998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DFBF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7992F-7864-405F-A7B6-1F85804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看时代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B6E23-2994-454B-B5F9-64100540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004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不是旁观变化，而是理解变化。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D78D7-A43A-4F6A-BB28-2855B1DD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998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7BC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5D73B-7B0E-4B07-AFC0-457168F9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17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F171A"/>
                </a:solidFill>
                <a:latin typeface="Aptos"/>
                <a:ea typeface="Aptos"/>
                <a:cs typeface="Aptos"/>
              </a:rPr>
              <a:t>做青年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EA468-03FC-482E-A75C-0382245C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672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1A17"/>
                </a:solidFill>
                <a:latin typeface="Microsoft YaHei"/>
                <a:ea typeface="Microsoft YaHei"/>
                <a:cs typeface="Microsoft YaHei"/>
              </a:rPr>
              <a:t>不是只谈理想，而是提升本领、服务社会。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BE76B-E838-4EC6-8F10-60C1A0CD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9750"/>
            <a:ext cx="714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9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96B55"/>
                </a:solidFill>
                <a:latin typeface="Microsoft YaHei"/>
                <a:ea typeface="Microsoft YaHei"/>
                <a:cs typeface="Microsoft YaHei"/>
              </a:rPr>
              <a:t>把个人成长放进国家需要和时代趋势中思考。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05F1B-491A-4CA9-8130-E3DB30E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D9A30-2C93-4661-8F4B-FD5CAEA7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37E23-0A1B-4E05-B0C0-F83B6FAC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55秒</a:t>
            </a:r>
          </a:p>
        </p:txBody>
      </p:sp>
    </p:spTree>
    <p:extLst>
      <p:ext uri="{BB962C8B-B14F-4D97-AF65-F5344CB8AC3E}">
        <p14:creationId xmlns:p14="http://schemas.microsoft.com/office/powerpoint/2010/main" val="10978973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2835D-9FA0-43EE-B43A-9D7844B6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15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3E7D18D-319D-4016-BFDD-FF93EEDF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A7FA79-B1DF-475B-B076-83B1F32D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48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D9B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D9BB"/>
                </a:solidFill>
                <a:latin typeface="Aptos"/>
                <a:ea typeface="Aptos"/>
                <a:cs typeface="Aptos"/>
              </a:rPr>
              <a:t>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2EBEA-30E7-4F2B-AED0-029C817C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685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rPr>
              <a:t>在经典中坚定方向，</a:t>
            </a:r>
          </a:p>
          <a:p xmlns:a="http://schemas.openxmlformats.org/drawingml/2006/main">
            <a:pPr algn="l">
              <a:defRPr sz="4050" b="1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8EC"/>
                </a:solidFill>
                <a:latin typeface="Microsoft YaHei"/>
                <a:ea typeface="Microsoft YaHei"/>
                <a:cs typeface="Microsoft YaHei"/>
              </a:rPr>
              <a:t>在实践中增长本领。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44CAE-C0B7-4506-99D6-1F1D2420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F7DC9-E123-44D3-8668-2181C49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ECE8F-A068-486E-ACF7-D4238772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E5C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E5C8"/>
                </a:solidFill>
                <a:latin typeface="Aptos"/>
                <a:ea typeface="Aptos"/>
                <a:cs typeface="Aptos"/>
              </a:rPr>
              <a:t>守正创新，是开辟新境界的方法。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4B6BB-18E7-4F70-9C11-2B4E487F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9A55A-7B12-4EFC-8015-B422627D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8C3C7-F529-4582-B82E-1448247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E5C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E5C8"/>
                </a:solidFill>
                <a:latin typeface="Aptos"/>
                <a:ea typeface="Aptos"/>
                <a:cs typeface="Aptos"/>
              </a:rPr>
              <a:t>两个结合，是理论扎根中国、回应时代的路径。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75225-2D44-4639-9F8D-BC738E5A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D8088-C82F-4C56-94C9-DB00AF46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76AF5-7DC8-4E20-B419-5E6331B1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767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E5C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E5C8"/>
                </a:solidFill>
                <a:latin typeface="Aptos"/>
                <a:ea typeface="Aptos"/>
                <a:cs typeface="Aptos"/>
              </a:rPr>
              <a:t>青年担当，是经典阅读最终要落到的行动。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C6CA6-DEF0-40B7-B793-3330BBF6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谢谢大家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410F0-5AE3-4189-95BB-9B3B04D9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D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A0096-2028-400D-B2C6-67FF0D00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9B3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8A438-CB09-4A38-9509-3FB7E73F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5B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5B4E"/>
                </a:solidFill>
                <a:latin typeface="Aptos"/>
                <a:ea typeface="Aptos"/>
                <a:cs typeface="Aptos"/>
              </a:rPr>
              <a:t>40秒</a:t>
            </a:r>
          </a:p>
        </p:txBody>
      </p:sp>
    </p:spTree>
    <p:extLst>
      <p:ext uri="{BB962C8B-B14F-4D97-AF65-F5344CB8AC3E}">
        <p14:creationId xmlns:p14="http://schemas.microsoft.com/office/powerpoint/2010/main" val="586872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2026-06-27T13:08:33.1060000Z</dcterms:created>
  <dcterms:modified xsi:type="dcterms:W3CDTF">2026-06-27T13:08:33.1060000Z</dcterms:modified>
</coreProperties>
</file>